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9" autoAdjust="0"/>
    <p:restoredTop sz="94660"/>
  </p:normalViewPr>
  <p:slideViewPr>
    <p:cSldViewPr snapToGrid="0">
      <p:cViewPr varScale="1">
        <p:scale>
          <a:sx n="68" d="100"/>
          <a:sy n="68" d="100"/>
        </p:scale>
        <p:origin x="4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BB361-0CB6-4824-9E41-9A1555A16A5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CE286-A0E7-46AB-ABC8-26238A729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4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344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6015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7408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955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7095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5741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1160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6718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0454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9721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83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1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2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19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2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13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7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3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6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73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3532391" y="2084852"/>
            <a:ext cx="5127221" cy="144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85" marR="0" lvl="0" indent="-304792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4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541853" algn="l" rtl="0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507987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body" idx="2"/>
          </p:nvPr>
        </p:nvSpPr>
        <p:spPr>
          <a:xfrm>
            <a:off x="3532194" y="3512309"/>
            <a:ext cx="5127221" cy="106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85" marR="0" lvl="0" indent="-304792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867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541853" algn="l" rtl="0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507987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" name="Google Shape;13;p33"/>
          <p:cNvGrpSpPr/>
          <p:nvPr/>
        </p:nvGrpSpPr>
        <p:grpSpPr>
          <a:xfrm>
            <a:off x="2592400" y="0"/>
            <a:ext cx="7007203" cy="6858000"/>
            <a:chOff x="1619672" y="548680"/>
            <a:chExt cx="5904656" cy="5778928"/>
          </a:xfrm>
        </p:grpSpPr>
        <p:sp>
          <p:nvSpPr>
            <p:cNvPr id="14" name="Google Shape;14;p33"/>
            <p:cNvSpPr/>
            <p:nvPr/>
          </p:nvSpPr>
          <p:spPr>
            <a:xfrm>
              <a:off x="2411760" y="1268760"/>
              <a:ext cx="4320480" cy="4320480"/>
            </a:xfrm>
            <a:prstGeom prst="ellipse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3"/>
            <p:cNvSpPr/>
            <p:nvPr/>
          </p:nvSpPr>
          <p:spPr>
            <a:xfrm>
              <a:off x="2483768" y="1340768"/>
              <a:ext cx="4176464" cy="4176464"/>
            </a:xfrm>
            <a:prstGeom prst="ellipse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" name="Google Shape;16;p33"/>
            <p:cNvCxnSpPr/>
            <p:nvPr/>
          </p:nvCxnSpPr>
          <p:spPr>
            <a:xfrm>
              <a:off x="4572000" y="548680"/>
              <a:ext cx="0" cy="720080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33"/>
            <p:cNvCxnSpPr/>
            <p:nvPr/>
          </p:nvCxnSpPr>
          <p:spPr>
            <a:xfrm>
              <a:off x="4572000" y="5607528"/>
              <a:ext cx="0" cy="720080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33"/>
            <p:cNvCxnSpPr/>
            <p:nvPr/>
          </p:nvCxnSpPr>
          <p:spPr>
            <a:xfrm>
              <a:off x="6732240" y="3429000"/>
              <a:ext cx="792088" cy="0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33"/>
            <p:cNvCxnSpPr/>
            <p:nvPr/>
          </p:nvCxnSpPr>
          <p:spPr>
            <a:xfrm>
              <a:off x="1619672" y="3429000"/>
              <a:ext cx="792088" cy="0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33"/>
            <p:cNvCxnSpPr/>
            <p:nvPr/>
          </p:nvCxnSpPr>
          <p:spPr>
            <a:xfrm rot="10800000" flipH="1">
              <a:off x="6156176" y="2378312"/>
              <a:ext cx="792088" cy="330608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33"/>
            <p:cNvCxnSpPr/>
            <p:nvPr/>
          </p:nvCxnSpPr>
          <p:spPr>
            <a:xfrm rot="10800000" flipH="1">
              <a:off x="5431496" y="1124744"/>
              <a:ext cx="432048" cy="792088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33"/>
            <p:cNvCxnSpPr/>
            <p:nvPr/>
          </p:nvCxnSpPr>
          <p:spPr>
            <a:xfrm>
              <a:off x="3094136" y="1131624"/>
              <a:ext cx="613768" cy="785208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33"/>
            <p:cNvCxnSpPr/>
            <p:nvPr/>
          </p:nvCxnSpPr>
          <p:spPr>
            <a:xfrm>
              <a:off x="2195736" y="2090992"/>
              <a:ext cx="898400" cy="492240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33"/>
            <p:cNvCxnSpPr/>
            <p:nvPr/>
          </p:nvCxnSpPr>
          <p:spPr>
            <a:xfrm rot="10800000" flipH="1">
              <a:off x="3180984" y="4941168"/>
              <a:ext cx="526920" cy="576064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33"/>
            <p:cNvCxnSpPr/>
            <p:nvPr/>
          </p:nvCxnSpPr>
          <p:spPr>
            <a:xfrm rot="10800000" flipH="1">
              <a:off x="2456304" y="4329100"/>
              <a:ext cx="637832" cy="396044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33"/>
            <p:cNvCxnSpPr/>
            <p:nvPr/>
          </p:nvCxnSpPr>
          <p:spPr>
            <a:xfrm>
              <a:off x="5979584" y="4142812"/>
              <a:ext cx="968680" cy="510324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33"/>
            <p:cNvCxnSpPr/>
            <p:nvPr/>
          </p:nvCxnSpPr>
          <p:spPr>
            <a:xfrm>
              <a:off x="5431496" y="4875464"/>
              <a:ext cx="490068" cy="732064"/>
            </a:xfrm>
            <a:prstGeom prst="straightConnector1">
              <a:avLst/>
            </a:prstGeom>
            <a:noFill/>
            <a:ln w="19050" cap="flat" cmpd="sng">
              <a:solidFill>
                <a:schemeClr val="l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896576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asic Layout">
  <p:cSld name="5_Basic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>
            <a:spLocks noGrp="1"/>
          </p:cNvSpPr>
          <p:nvPr>
            <p:ph type="pic" idx="2"/>
          </p:nvPr>
        </p:nvSpPr>
        <p:spPr>
          <a:xfrm>
            <a:off x="3601245" y="430000"/>
            <a:ext cx="2110712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37"/>
          <p:cNvSpPr>
            <a:spLocks noGrp="1"/>
          </p:cNvSpPr>
          <p:nvPr>
            <p:ph type="pic" idx="3"/>
          </p:nvPr>
        </p:nvSpPr>
        <p:spPr>
          <a:xfrm>
            <a:off x="3601245" y="2531480"/>
            <a:ext cx="2110712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37"/>
          <p:cNvSpPr>
            <a:spLocks noGrp="1"/>
          </p:cNvSpPr>
          <p:nvPr>
            <p:ph type="pic" idx="4"/>
          </p:nvPr>
        </p:nvSpPr>
        <p:spPr>
          <a:xfrm>
            <a:off x="3601245" y="4632960"/>
            <a:ext cx="2110712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9678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Layout">
  <p:cSld name="Basic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>
            <a:spLocks noGrp="1"/>
          </p:cNvSpPr>
          <p:nvPr>
            <p:ph type="body" idx="1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85" marR="0" lvl="0" indent="-304792" algn="ctr" rtl="0"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4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541853" algn="l" rtl="0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507987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body" idx="2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85" marR="0" lvl="0" indent="-304792" algn="ctr" rtl="0"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541853" algn="l" rtl="0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507987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7412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559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DE8EA-0FDF-49FD-9A09-6683E135328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BAC92-A131-43EE-ADEF-03CF0665D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4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g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gif"/><Relationship Id="rId5" Type="http://schemas.openxmlformats.org/officeDocument/2006/relationships/image" Target="../media/image11.jpg"/><Relationship Id="rId4" Type="http://schemas.openxmlformats.org/officeDocument/2006/relationships/image" Target="../media/image10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jpg"/><Relationship Id="rId4" Type="http://schemas.openxmlformats.org/officeDocument/2006/relationships/image" Target="../media/image1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.gif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gif"/><Relationship Id="rId4" Type="http://schemas.openxmlformats.org/officeDocument/2006/relationships/image" Target="../media/image2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gif"/><Relationship Id="rId4" Type="http://schemas.openxmlformats.org/officeDocument/2006/relationships/image" Target="../media/image29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gif"/><Relationship Id="rId4" Type="http://schemas.openxmlformats.org/officeDocument/2006/relationships/image" Target="../media/image3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gif"/><Relationship Id="rId4" Type="http://schemas.openxmlformats.org/officeDocument/2006/relationships/image" Target="../media/image36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gif"/><Relationship Id="rId5" Type="http://schemas.openxmlformats.org/officeDocument/2006/relationships/image" Target="../media/image40.gif"/><Relationship Id="rId4" Type="http://schemas.openxmlformats.org/officeDocument/2006/relationships/image" Target="../media/image39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7" Type="http://schemas.openxmlformats.org/officeDocument/2006/relationships/image" Target="../media/image4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jpg"/><Relationship Id="rId5" Type="http://schemas.openxmlformats.org/officeDocument/2006/relationships/image" Target="../media/image44.gif"/><Relationship Id="rId4" Type="http://schemas.openxmlformats.org/officeDocument/2006/relationships/image" Target="../media/image4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" descr="C:\Users\Admin\Desktop\《HSK标准教程1》练习册图片第2课\《HSK标准教程1》练习册图片第2课\2-0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9777" y="4211863"/>
            <a:ext cx="4154865" cy="2077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"/>
          <p:cNvSpPr txBox="1">
            <a:spLocks noGrp="1"/>
          </p:cNvSpPr>
          <p:nvPr>
            <p:ph type="body" idx="1"/>
          </p:nvPr>
        </p:nvSpPr>
        <p:spPr>
          <a:xfrm>
            <a:off x="3695733" y="2379967"/>
            <a:ext cx="5426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4800"/>
            </a:pPr>
            <a:r>
              <a:rPr lang="en-US" sz="640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rPr>
              <a:t>你家有几口人?</a:t>
            </a:r>
            <a:endParaRPr/>
          </a:p>
        </p:txBody>
      </p:sp>
      <p:sp>
        <p:nvSpPr>
          <p:cNvPr id="150" name="Google Shape;150;p1"/>
          <p:cNvSpPr txBox="1">
            <a:spLocks noGrp="1"/>
          </p:cNvSpPr>
          <p:nvPr>
            <p:ph type="body" idx="2"/>
          </p:nvPr>
        </p:nvSpPr>
        <p:spPr>
          <a:xfrm>
            <a:off x="3615903" y="1220755"/>
            <a:ext cx="5127221" cy="10665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099DA2"/>
              </a:buClr>
              <a:buSzPts val="3600"/>
            </a:pPr>
            <a:r>
              <a:rPr lang="en-US" sz="4800">
                <a:solidFill>
                  <a:srgbClr val="099DA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10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3599723" y="2091925"/>
            <a:ext cx="7585287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3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Nǐ jiā yǒu jǐ kǒu rén?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0737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3"/>
          <p:cNvGrpSpPr/>
          <p:nvPr/>
        </p:nvGrpSpPr>
        <p:grpSpPr>
          <a:xfrm>
            <a:off x="4175789" y="3420089"/>
            <a:ext cx="5782620" cy="951951"/>
            <a:chOff x="3769793" y="3292094"/>
            <a:chExt cx="1584177" cy="713963"/>
          </a:xfrm>
        </p:grpSpPr>
        <p:sp>
          <p:nvSpPr>
            <p:cNvPr id="171" name="Google Shape;171;p3"/>
            <p:cNvSpPr txBox="1"/>
            <p:nvPr/>
          </p:nvSpPr>
          <p:spPr>
            <a:xfrm>
              <a:off x="3769793" y="3292094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457189" indent="-457189">
                <a:buClr>
                  <a:schemeClr val="dk1"/>
                </a:buClr>
                <a:buSzPts val="2000"/>
              </a:pPr>
              <a:r>
                <a:rPr lang="en-US" sz="32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爸爸  </a:t>
              </a:r>
              <a:r>
                <a:rPr lang="en-US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bàba       </a:t>
              </a:r>
              <a:r>
                <a:rPr lang="en-US" sz="320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名          </a:t>
              </a:r>
              <a:r>
                <a:rPr lang="en-US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Bố</a:t>
              </a:r>
              <a:endPara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" name="Google Shape;172;p3"/>
            <p:cNvSpPr txBox="1"/>
            <p:nvPr/>
          </p:nvSpPr>
          <p:spPr>
            <a:xfrm>
              <a:off x="3769793" y="3636766"/>
              <a:ext cx="158417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>
                <a:buClr>
                  <a:schemeClr val="dk1"/>
                </a:buClr>
                <a:buSzPts val="1600"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我的爸爸  Wǒ de bàba 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74" name="Google Shape;174;p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07438" y="3330361"/>
            <a:ext cx="1844628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6" name="Google Shape;176;p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8016214" y="4005065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936428" y="4005065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8" name="Google Shape;178;p3"/>
          <p:cNvSpPr/>
          <p:nvPr/>
        </p:nvSpPr>
        <p:spPr>
          <a:xfrm>
            <a:off x="0" y="-143633"/>
            <a:ext cx="284693" cy="28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>
              <a:buClr>
                <a:schemeClr val="dk1"/>
              </a:buClr>
              <a:buSzPts val="800"/>
            </a:pPr>
            <a:r>
              <a:rPr lang="en-US" sz="10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251200" y="853222"/>
            <a:ext cx="3008875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 </a:t>
            </a:r>
            <a:endParaRPr sz="2400"/>
          </a:p>
          <a:p>
            <a:pPr>
              <a:spcBef>
                <a:spcPts val="960"/>
              </a:spcBef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mới</a:t>
            </a:r>
            <a:endParaRPr sz="4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90;p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8016214" y="356659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" name="Google Shape;191;p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9936428" y="356660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" name="Google Shape;198;p4"/>
          <p:cNvGrpSpPr/>
          <p:nvPr/>
        </p:nvGrpSpPr>
        <p:grpSpPr>
          <a:xfrm>
            <a:off x="4197085" y="478536"/>
            <a:ext cx="5761324" cy="975031"/>
            <a:chOff x="3779911" y="3327771"/>
            <a:chExt cx="1584365" cy="638460"/>
          </a:xfrm>
        </p:grpSpPr>
        <p:sp>
          <p:nvSpPr>
            <p:cNvPr id="21" name="Google Shape;199;p4"/>
            <p:cNvSpPr txBox="1"/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667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667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" name="Google Shape;200;p4"/>
            <p:cNvSpPr txBox="1"/>
            <p:nvPr/>
          </p:nvSpPr>
          <p:spPr>
            <a:xfrm>
              <a:off x="3780099" y="3643811"/>
              <a:ext cx="1584177" cy="322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>
                <a:buClr>
                  <a:schemeClr val="dk1"/>
                </a:buClr>
                <a:buSzPts val="1600"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3" name="Google Shape;201;p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2007438" y="643981"/>
            <a:ext cx="1847849" cy="1847849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4" name="Google Shape;185;p4"/>
          <p:cNvGrpSpPr/>
          <p:nvPr/>
        </p:nvGrpSpPr>
        <p:grpSpPr>
          <a:xfrm>
            <a:off x="4367808" y="1030580"/>
            <a:ext cx="5760640" cy="940059"/>
            <a:chOff x="3700702" y="3337212"/>
            <a:chExt cx="1584177" cy="615560"/>
          </a:xfrm>
        </p:grpSpPr>
        <p:sp>
          <p:nvSpPr>
            <p:cNvPr id="25" name="Google Shape;186;p4"/>
            <p:cNvSpPr txBox="1"/>
            <p:nvPr/>
          </p:nvSpPr>
          <p:spPr>
            <a:xfrm>
              <a:off x="3700702" y="3337212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667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妈妈  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māma </a:t>
              </a:r>
              <a:r>
                <a:rPr lang="en-US" sz="2667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名 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Mẹ</a:t>
              </a:r>
              <a:endParaRPr sz="2667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" name="Google Shape;187;p4"/>
            <p:cNvSpPr txBox="1"/>
            <p:nvPr/>
          </p:nvSpPr>
          <p:spPr>
            <a:xfrm>
              <a:off x="3700702" y="3657265"/>
              <a:ext cx="1584177" cy="295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>
                <a:buClr>
                  <a:schemeClr val="dk1"/>
                </a:buClr>
                <a:buSzPts val="1600"/>
              </a:pPr>
              <a:r>
                <a:rPr lang="en-US" sz="213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我的妈妈 Wǒ de māma</a:t>
              </a:r>
              <a:endParaRPr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859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344423" y="1471819"/>
            <a:ext cx="3008875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 </a:t>
            </a:r>
            <a:endParaRPr sz="2400" dirty="0"/>
          </a:p>
          <a:p>
            <a:pPr>
              <a:spcBef>
                <a:spcPts val="960"/>
              </a:spcBef>
              <a:buClr>
                <a:schemeClr val="dk1"/>
              </a:buClr>
              <a:buSzPts val="3600"/>
            </a:pP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mới</a:t>
            </a:r>
            <a:endParaRPr sz="4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429861" y="1152909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2" name="Google Shape;192;p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0205168" y="4081816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93" name="Google Shape;193;p4"/>
          <p:cNvGrpSpPr/>
          <p:nvPr/>
        </p:nvGrpSpPr>
        <p:grpSpPr>
          <a:xfrm>
            <a:off x="4524999" y="4445995"/>
            <a:ext cx="5531960" cy="870956"/>
            <a:chOff x="3762730" y="3327771"/>
            <a:chExt cx="1601358" cy="653217"/>
          </a:xfrm>
        </p:grpSpPr>
        <p:sp>
          <p:nvSpPr>
            <p:cNvPr id="194" name="Google Shape;194;p4"/>
            <p:cNvSpPr txBox="1"/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457189" indent="-457189">
                <a:buClr>
                  <a:schemeClr val="dk1"/>
                </a:buClr>
                <a:buSzPts val="2000"/>
              </a:pPr>
              <a:r>
                <a:rPr lang="en-US" sz="2667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妹妹 </a:t>
              </a:r>
              <a:r>
                <a:rPr lang="en-US" sz="2667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mèimei </a:t>
              </a:r>
              <a:r>
                <a:rPr lang="en-US" sz="2667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名 </a:t>
              </a:r>
              <a:r>
                <a:rPr lang="en-US" sz="2667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Em gái</a:t>
              </a:r>
              <a:endParaRPr sz="26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4"/>
            <p:cNvSpPr txBox="1"/>
            <p:nvPr/>
          </p:nvSpPr>
          <p:spPr>
            <a:xfrm>
              <a:off x="3762730" y="3611697"/>
              <a:ext cx="158417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>
                <a:buClr>
                  <a:schemeClr val="dk1"/>
                </a:buClr>
                <a:buSzPts val="1600"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我的妹妹 Wǒ de mèimei </a:t>
              </a: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96" name="Google Shape;196;p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2555769" y="4081818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7" name="Google Shape;197;p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8134452" y="4081816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2" name="Google Shape;202;p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7829128" y="861588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3" name="Google Shape;203;p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9863088" y="874485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4" name="Google Shape;204;p4"/>
          <p:cNvGrpSpPr/>
          <p:nvPr/>
        </p:nvGrpSpPr>
        <p:grpSpPr>
          <a:xfrm>
            <a:off x="4276733" y="1477163"/>
            <a:ext cx="6624736" cy="1109553"/>
            <a:chOff x="3347864" y="2211710"/>
            <a:chExt cx="4968552" cy="832165"/>
          </a:xfrm>
        </p:grpSpPr>
        <p:sp>
          <p:nvSpPr>
            <p:cNvPr id="205" name="Google Shape;205;p4"/>
            <p:cNvSpPr txBox="1"/>
            <p:nvPr/>
          </p:nvSpPr>
          <p:spPr>
            <a:xfrm>
              <a:off x="3347864" y="2211710"/>
              <a:ext cx="4968552" cy="707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667" b="1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弟弟  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dìdi   </a:t>
              </a:r>
              <a:r>
                <a:rPr lang="en-US" sz="2667" dirty="0">
                  <a:solidFill>
                    <a:schemeClr val="accent1"/>
                  </a:solidFill>
                  <a:latin typeface="STKaiti"/>
                  <a:ea typeface="STKaiti"/>
                  <a:cs typeface="STKaiti"/>
                  <a:sym typeface="STKaiti"/>
                </a:rPr>
                <a:t>名   </a:t>
              </a:r>
              <a:r>
                <a:rPr lang="en-US" sz="2667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Em trai</a:t>
              </a:r>
              <a:endParaRPr sz="2667" dirty="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  <a:p>
              <a:endParaRPr sz="2667" dirty="0">
                <a:solidFill>
                  <a:schemeClr val="accent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3347864" y="2643758"/>
              <a:ext cx="2664296" cy="400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667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他的弟弟</a:t>
              </a: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Tā de dìdi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411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Google Shape;283;p9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236" y="4677140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" name="Google Shape;284;p9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32438" y="4677140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" name="Google Shape;286;p9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6206" y="4534517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7" name="Google Shape;288;p9"/>
          <p:cNvGrpSpPr/>
          <p:nvPr/>
        </p:nvGrpSpPr>
        <p:grpSpPr>
          <a:xfrm>
            <a:off x="3791744" y="4773150"/>
            <a:ext cx="4320480" cy="1451593"/>
            <a:chOff x="3347864" y="3579862"/>
            <a:chExt cx="3240360" cy="1088695"/>
          </a:xfrm>
        </p:grpSpPr>
        <p:sp>
          <p:nvSpPr>
            <p:cNvPr id="8" name="Google Shape;289;p9"/>
            <p:cNvSpPr txBox="1"/>
            <p:nvPr/>
          </p:nvSpPr>
          <p:spPr>
            <a:xfrm>
              <a:off x="3347864" y="3579862"/>
              <a:ext cx="324036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3200" b="1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哥哥</a:t>
              </a:r>
              <a:r>
                <a:rPr lang="en-US" sz="32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gēge    </a:t>
              </a:r>
              <a:r>
                <a:rPr lang="en-US" sz="3200" dirty="0">
                  <a:solidFill>
                    <a:schemeClr val="accent1"/>
                  </a:solidFill>
                  <a:latin typeface="STKaiti"/>
                  <a:ea typeface="STKaiti"/>
                  <a:cs typeface="STKaiti"/>
                  <a:sym typeface="STKaiti"/>
                </a:rPr>
                <a:t>名   </a:t>
              </a:r>
              <a:r>
                <a:rPr lang="en-US" sz="2667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anh trai</a:t>
              </a:r>
              <a:endParaRPr sz="2667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endParaRPr sz="3200" dirty="0">
                <a:solidFill>
                  <a:schemeClr val="accent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  <p:sp>
          <p:nvSpPr>
            <p:cNvPr id="9" name="Google Shape;290;p9"/>
            <p:cNvSpPr txBox="1"/>
            <p:nvPr/>
          </p:nvSpPr>
          <p:spPr>
            <a:xfrm>
              <a:off x="3347864" y="4083918"/>
              <a:ext cx="3168352" cy="584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133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他是我的哥哥。</a:t>
              </a:r>
              <a:r>
                <a:rPr lang="en-US" sz="2133" dirty="0">
                  <a:solidFill>
                    <a:schemeClr val="dk1"/>
                  </a:solidFill>
                  <a:latin typeface="Time s New Roman"/>
                  <a:ea typeface="STKaiti"/>
                  <a:cs typeface="STKaiti"/>
                  <a:sym typeface="STKaiti"/>
                </a:rPr>
                <a:t>Tā shì wǒ de gēge.</a:t>
              </a:r>
              <a:endParaRPr sz="2133" dirty="0">
                <a:solidFill>
                  <a:schemeClr val="dk1"/>
                </a:solidFill>
                <a:latin typeface="Time s New Roman"/>
                <a:ea typeface="STKaiti"/>
                <a:cs typeface="STKaiti"/>
                <a:sym typeface="STKaiti"/>
              </a:endParaRPr>
            </a:p>
          </p:txBody>
        </p:sp>
      </p:grpSp>
      <p:pic>
        <p:nvPicPr>
          <p:cNvPr id="10" name="Google Shape;296;p10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6214" y="1428486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1" name="Google Shape;297;p10"/>
          <p:cNvGrpSpPr/>
          <p:nvPr/>
        </p:nvGrpSpPr>
        <p:grpSpPr>
          <a:xfrm>
            <a:off x="3887755" y="1988840"/>
            <a:ext cx="4704523" cy="1533795"/>
            <a:chOff x="1835696" y="483518"/>
            <a:chExt cx="3528392" cy="1150346"/>
          </a:xfrm>
        </p:grpSpPr>
        <p:sp>
          <p:nvSpPr>
            <p:cNvPr id="12" name="Google Shape;298;p10"/>
            <p:cNvSpPr txBox="1"/>
            <p:nvPr/>
          </p:nvSpPr>
          <p:spPr>
            <a:xfrm>
              <a:off x="1835696" y="483518"/>
              <a:ext cx="3528392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3200" b="1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姐姐 </a:t>
              </a:r>
              <a:r>
                <a:rPr lang="en-US" sz="3200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 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jiějie</a:t>
              </a:r>
              <a:r>
                <a:rPr lang="en-US" sz="3200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    </a:t>
              </a:r>
              <a:r>
                <a:rPr lang="en-US" sz="3200" dirty="0">
                  <a:solidFill>
                    <a:schemeClr val="accent1"/>
                  </a:solidFill>
                  <a:latin typeface="STKaiti"/>
                  <a:ea typeface="STKaiti"/>
                  <a:cs typeface="STKaiti"/>
                  <a:sym typeface="STKaiti"/>
                </a:rPr>
                <a:t>名  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chị gái</a:t>
              </a:r>
              <a:endParaRPr sz="3200" dirty="0">
                <a:solidFill>
                  <a:schemeClr val="accent1"/>
                </a:solidFill>
                <a:latin typeface="STKaiti"/>
                <a:ea typeface="STKaiti"/>
                <a:cs typeface="STKaiti"/>
                <a:sym typeface="STKaiti"/>
              </a:endParaRPr>
            </a:p>
            <a:p>
              <a:endParaRPr sz="3200" dirty="0">
                <a:solidFill>
                  <a:schemeClr val="accent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  <p:sp>
          <p:nvSpPr>
            <p:cNvPr id="13" name="Google Shape;299;p10"/>
            <p:cNvSpPr txBox="1"/>
            <p:nvPr/>
          </p:nvSpPr>
          <p:spPr>
            <a:xfrm>
              <a:off x="1835696" y="987574"/>
              <a:ext cx="3312368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40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她是我的姐姐。</a:t>
              </a:r>
              <a:r>
                <a:rPr lang="en-US" sz="2400">
                  <a:solidFill>
                    <a:schemeClr val="dk1"/>
                  </a:solidFill>
                  <a:latin typeface="Times New Roman" panose="02020603050405020304" pitchFamily="18" charset="0"/>
                  <a:ea typeface="STKaiti"/>
                  <a:cs typeface="Times New Roman" panose="02020603050405020304" pitchFamily="18" charset="0"/>
                  <a:sym typeface="STKaiti"/>
                </a:rPr>
                <a:t>Tā shì wǒ de jiějie.</a:t>
              </a:r>
              <a:endParaRPr sz="2400">
                <a:solidFill>
                  <a:schemeClr val="dk1"/>
                </a:solidFill>
                <a:latin typeface="Times New Roman" panose="02020603050405020304" pitchFamily="18" charset="0"/>
                <a:ea typeface="STKaiti"/>
                <a:cs typeface="Times New Roman" panose="02020603050405020304" pitchFamily="18" charset="0"/>
                <a:sym typeface="STKaiti"/>
              </a:endParaRPr>
            </a:p>
          </p:txBody>
        </p:sp>
      </p:grpSp>
      <p:pic>
        <p:nvPicPr>
          <p:cNvPr id="14" name="Google Shape;300;p10"/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44872" y="1685600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" name="Google Shape;301;p10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36427" y="1412776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" name="Google Shape;188;p4"/>
          <p:cNvSpPr txBox="1"/>
          <p:nvPr/>
        </p:nvSpPr>
        <p:spPr>
          <a:xfrm>
            <a:off x="274883" y="2271221"/>
            <a:ext cx="1527108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 </a:t>
            </a:r>
            <a:endParaRPr sz="2400"/>
          </a:p>
          <a:p>
            <a:pPr>
              <a:spcBef>
                <a:spcPts val="960"/>
              </a:spcBef>
              <a:buClr>
                <a:schemeClr val="dk1"/>
              </a:buClr>
              <a:buSzPts val="3600"/>
            </a:pP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mới</a:t>
            </a:r>
            <a:endParaRPr sz="4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028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Google Shape;254;p7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236" y="4677140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5" name="Google Shape;255;p7"/>
          <p:cNvGrpSpPr/>
          <p:nvPr/>
        </p:nvGrpSpPr>
        <p:grpSpPr>
          <a:xfrm>
            <a:off x="3791745" y="4965170"/>
            <a:ext cx="5568620" cy="1340161"/>
            <a:chOff x="3752118" y="3327771"/>
            <a:chExt cx="1611970" cy="1005121"/>
          </a:xfrm>
        </p:grpSpPr>
        <p:sp>
          <p:nvSpPr>
            <p:cNvPr id="6" name="Google Shape;256;p7"/>
            <p:cNvSpPr txBox="1"/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457189" indent="-457189">
                <a:buClr>
                  <a:schemeClr val="dk1"/>
                </a:buClr>
                <a:buSzPts val="2000"/>
              </a:pPr>
              <a:r>
                <a:rPr lang="en-US" sz="2667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家人  </a:t>
              </a:r>
              <a:r>
                <a:rPr lang="en-US" sz="2667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jiārén     </a:t>
              </a:r>
              <a:r>
                <a:rPr lang="en-US" sz="2667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名   </a:t>
              </a:r>
              <a:r>
                <a:rPr lang="en-US" sz="2667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người nhà</a:t>
              </a:r>
              <a:endParaRPr sz="2667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" name="Google Shape;257;p7"/>
            <p:cNvSpPr txBox="1"/>
            <p:nvPr/>
          </p:nvSpPr>
          <p:spPr>
            <a:xfrm>
              <a:off x="3752118" y="3748253"/>
              <a:ext cx="1584177" cy="584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marL="380990" indent="-380990"/>
              <a:r>
                <a:rPr lang="en-US" sz="213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我的家人。 Wǒ de jiārén.</a:t>
              </a:r>
              <a:endParaRPr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0990" indent="-380990"/>
              <a:r>
                <a:rPr lang="en-US" sz="213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我是他的家人。Wǒ shì tā de jiārén.</a:t>
              </a:r>
              <a:endParaRPr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8" name="Google Shape;258;p7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2813" y="4773149"/>
            <a:ext cx="1766179" cy="1766179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" name="Google Shape;259;p7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32438" y="4677140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0" name="Google Shape;211;p5"/>
          <p:cNvGrpSpPr/>
          <p:nvPr/>
        </p:nvGrpSpPr>
        <p:grpSpPr>
          <a:xfrm>
            <a:off x="3679283" y="2331715"/>
            <a:ext cx="6253571" cy="1667964"/>
            <a:chOff x="3765132" y="3327777"/>
            <a:chExt cx="1719733" cy="1092203"/>
          </a:xfrm>
        </p:grpSpPr>
        <p:sp>
          <p:nvSpPr>
            <p:cNvPr id="11" name="Google Shape;212;p5"/>
            <p:cNvSpPr txBox="1"/>
            <p:nvPr/>
          </p:nvSpPr>
          <p:spPr>
            <a:xfrm>
              <a:off x="3779911" y="3327777"/>
              <a:ext cx="1584177" cy="246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667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照片 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zhàopiàn       </a:t>
              </a:r>
              <a:r>
                <a:rPr lang="en-US" sz="2667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名	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Ảnh</a:t>
              </a:r>
              <a:endParaRPr sz="26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213;p5"/>
            <p:cNvSpPr txBox="1"/>
            <p:nvPr/>
          </p:nvSpPr>
          <p:spPr>
            <a:xfrm>
              <a:off x="3765132" y="3613872"/>
              <a:ext cx="1719733" cy="806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>
                <a:buClr>
                  <a:schemeClr val="dk1"/>
                </a:buClr>
                <a:buSzPts val="1600"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妈妈的照片  </a:t>
              </a: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āma </a:t>
              </a: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 zhàopiàn</a:t>
              </a: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</a:p>
            <a:p>
              <a:pPr lvl="0">
                <a:buClr>
                  <a:schemeClr val="dk1"/>
                </a:buClr>
                <a:buSzPts val="1600"/>
              </a:pPr>
              <a:r>
                <a:rPr lang="zh-CN" altLang="en-US" sz="2400" dirty="0">
                  <a:solidFill>
                    <a:schemeClr val="dk1"/>
                  </a:solidFill>
                  <a:latin typeface="+mn-ea"/>
                  <a:cs typeface="Times New Roman"/>
                  <a:sym typeface="Times New Roman"/>
                </a:rPr>
                <a:t>全家的照</a:t>
              </a:r>
              <a:r>
                <a:rPr lang="zh-CN" altLang="en-US" sz="2400" dirty="0">
                  <a:solidFill>
                    <a:schemeClr val="dk1"/>
                  </a:solidFill>
                  <a:latin typeface="+mn-ea"/>
                  <a:cs typeface="Times New Roman"/>
                  <a:sym typeface="Times New Roman"/>
                </a:rPr>
                <a:t>片 </a:t>
              </a:r>
              <a:r>
                <a:rPr lang="vi-VN" altLang="zh-CN" sz="2400" dirty="0">
                  <a:solidFill>
                    <a:schemeClr val="dk1"/>
                  </a:solidFill>
                  <a:latin typeface="+mj-lt"/>
                  <a:cs typeface="Times New Roman"/>
                  <a:sym typeface="Times New Roman"/>
                </a:rPr>
                <a:t>quánjiā </a:t>
              </a:r>
              <a:r>
                <a:rPr lang="vi-VN" altLang="zh-CN" sz="2400" dirty="0">
                  <a:solidFill>
                    <a:schemeClr val="dk1"/>
                  </a:solidFill>
                  <a:latin typeface="+mj-lt"/>
                  <a:cs typeface="Times New Roman"/>
                  <a:sym typeface="Times New Roman"/>
                </a:rPr>
                <a:t>de </a:t>
              </a:r>
              <a:r>
                <a:rPr lang="vi-VN" altLang="zh-CN" sz="2400" dirty="0">
                  <a:solidFill>
                    <a:schemeClr val="dk1"/>
                  </a:solidFill>
                  <a:latin typeface="+mj-lt"/>
                  <a:cs typeface="Times New Roman"/>
                  <a:sym typeface="Times New Roman"/>
                </a:rPr>
                <a:t>zhàopiàn </a:t>
              </a:r>
              <a:endParaRPr sz="2133" dirty="0">
                <a:latin typeface="+mj-lt"/>
              </a:endParaRPr>
            </a:p>
            <a:p>
              <a:pPr>
                <a:buClr>
                  <a:schemeClr val="dk1"/>
                </a:buClr>
                <a:buSzPts val="1600"/>
              </a:pP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4" name="Google Shape;220;p5"/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0800" y="1784660"/>
            <a:ext cx="1653712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" name="Google Shape;223;p5"/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61752" y="1800244"/>
            <a:ext cx="1536171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62" y="1683922"/>
            <a:ext cx="2448919" cy="183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4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vi-VN"/>
          </a:p>
        </p:txBody>
      </p:sp>
      <p:grpSp>
        <p:nvGrpSpPr>
          <p:cNvPr id="4" name="Google Shape;167;p3"/>
          <p:cNvGrpSpPr/>
          <p:nvPr/>
        </p:nvGrpSpPr>
        <p:grpSpPr>
          <a:xfrm>
            <a:off x="1565272" y="1551471"/>
            <a:ext cx="8079880" cy="1957409"/>
            <a:chOff x="3772500" y="3383238"/>
            <a:chExt cx="1591588" cy="1281731"/>
          </a:xfrm>
        </p:grpSpPr>
        <p:sp>
          <p:nvSpPr>
            <p:cNvPr id="5" name="Google Shape;168;p3"/>
            <p:cNvSpPr txBox="1"/>
            <p:nvPr/>
          </p:nvSpPr>
          <p:spPr>
            <a:xfrm>
              <a:off x="3772500" y="3383238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32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口</a:t>
              </a:r>
              <a:r>
                <a:rPr lang="en-US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kǒu		</a:t>
              </a:r>
              <a:r>
                <a:rPr lang="en-US" sz="320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量	</a:t>
              </a:r>
              <a:endPara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" name="Google Shape;169;p3"/>
            <p:cNvSpPr txBox="1"/>
            <p:nvPr/>
          </p:nvSpPr>
          <p:spPr>
            <a:xfrm>
              <a:off x="3779911" y="3617022"/>
              <a:ext cx="1584177" cy="1047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>
                <a:buClr>
                  <a:schemeClr val="dk1"/>
                </a:buClr>
                <a:buSzPts val="1600"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几口人 jǐ kǒu rén</a:t>
              </a: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buClr>
                  <a:schemeClr val="dk1"/>
                </a:buClr>
                <a:buSzPts val="1600"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五口人 wǔ kǒu rén</a:t>
              </a: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buClr>
                  <a:schemeClr val="dk1"/>
                </a:buClr>
                <a:buSzPts val="1600"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你家有几口人？Nǐ jiā yǒu jǐ kǒu rén?</a:t>
              </a:r>
              <a:endParaRPr sz="2133" dirty="0"/>
            </a:p>
            <a:p>
              <a:pPr>
                <a:buClr>
                  <a:schemeClr val="dk1"/>
                </a:buClr>
                <a:buSzPts val="1600"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我家有五口人。 Wǒ jiā yǒu wǔ kǒu rén?</a:t>
              </a:r>
              <a:endParaRPr sz="2133" dirty="0"/>
            </a:p>
          </p:txBody>
        </p:sp>
      </p:grpSp>
      <p:pic>
        <p:nvPicPr>
          <p:cNvPr id="7" name="Google Shape;175;p3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14358" y="1440792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" name="Google Shape;180;p3"/>
          <p:cNvSpPr txBox="1"/>
          <p:nvPr/>
        </p:nvSpPr>
        <p:spPr>
          <a:xfrm>
            <a:off x="5044180" y="1444919"/>
            <a:ext cx="2546715" cy="12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Lượng từ chỉ số</a:t>
            </a:r>
            <a:endParaRPr sz="2133" dirty="0"/>
          </a:p>
          <a:p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thành viên trong </a:t>
            </a:r>
            <a:endParaRPr sz="2133" dirty="0"/>
          </a:p>
          <a:p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gia đình.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oogle Shape;229;p6"/>
          <p:cNvGrpSpPr/>
          <p:nvPr/>
        </p:nvGrpSpPr>
        <p:grpSpPr>
          <a:xfrm>
            <a:off x="1602895" y="4302993"/>
            <a:ext cx="5472608" cy="1622478"/>
            <a:chOff x="3779911" y="3327771"/>
            <a:chExt cx="1584177" cy="1216859"/>
          </a:xfrm>
        </p:grpSpPr>
        <p:sp>
          <p:nvSpPr>
            <p:cNvPr id="10" name="Google Shape;230;p6"/>
            <p:cNvSpPr txBox="1"/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457189" indent="-457189">
                <a:buClr>
                  <a:schemeClr val="dk1"/>
                </a:buClr>
                <a:buSzPts val="2400"/>
              </a:pPr>
              <a:r>
                <a:rPr lang="en-US" sz="32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和  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hé	 </a:t>
              </a:r>
              <a:r>
                <a:rPr lang="en-US" sz="3200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连	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và</a:t>
              </a:r>
              <a:endParaRPr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" name="Google Shape;231;p6"/>
            <p:cNvSpPr txBox="1"/>
            <p:nvPr/>
          </p:nvSpPr>
          <p:spPr>
            <a:xfrm>
              <a:off x="3779911" y="3621341"/>
              <a:ext cx="1584177" cy="923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marL="380990" indent="-380990"/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爸爸和妈妈。 Bàba hé māma.</a:t>
              </a: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0990" indent="-380990"/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我和你。 Wǒ hé nǐ.</a:t>
              </a:r>
              <a:endParaRPr sz="2400" dirty="0"/>
            </a:p>
            <a:p>
              <a:pPr marL="380990" indent="-380990"/>
              <a:r>
                <a:rPr lang="en-US" sz="2400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我和爸爸。 </a:t>
              </a: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Wǒ hé bàba.</a:t>
              </a:r>
              <a:endParaRPr sz="2400" dirty="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</p:grpSp>
      <p:pic>
        <p:nvPicPr>
          <p:cNvPr id="12" name="Google Shape;233;p6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4358" y="3708059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51665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5"/>
          <p:cNvGrpSpPr/>
          <p:nvPr/>
        </p:nvGrpSpPr>
        <p:grpSpPr>
          <a:xfrm>
            <a:off x="3375395" y="4572898"/>
            <a:ext cx="5505509" cy="991483"/>
            <a:chOff x="3909350" y="2391667"/>
            <a:chExt cx="1593701" cy="743612"/>
          </a:xfrm>
        </p:grpSpPr>
        <p:sp>
          <p:nvSpPr>
            <p:cNvPr id="215" name="Google Shape;215;p5"/>
            <p:cNvSpPr txBox="1"/>
            <p:nvPr/>
          </p:nvSpPr>
          <p:spPr>
            <a:xfrm>
              <a:off x="3918874" y="2391667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457189" indent="-457189">
                <a:buClr>
                  <a:schemeClr val="dk1"/>
                </a:buClr>
                <a:buSzPts val="2000"/>
              </a:pPr>
              <a:r>
                <a:rPr lang="en-US" sz="2667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律师  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lǜshī   </a:t>
              </a:r>
              <a:r>
                <a:rPr lang="en-US" sz="2667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名	    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luật sư</a:t>
              </a:r>
              <a:endParaRPr sz="26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5"/>
            <p:cNvSpPr txBox="1"/>
            <p:nvPr/>
          </p:nvSpPr>
          <p:spPr>
            <a:xfrm>
              <a:off x="3909350" y="2765988"/>
              <a:ext cx="158417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>
                <a:buClr>
                  <a:schemeClr val="dk1"/>
                </a:buClr>
                <a:buSzPts val="1600"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我爸爸是律师。 Wǒ bàba shì lùshī.</a:t>
              </a:r>
              <a:endParaRPr sz="2133"/>
            </a:p>
          </p:txBody>
        </p:sp>
      </p:grpSp>
      <p:sp>
        <p:nvSpPr>
          <p:cNvPr id="217" name="Google Shape;217;p5"/>
          <p:cNvSpPr txBox="1"/>
          <p:nvPr/>
        </p:nvSpPr>
        <p:spPr>
          <a:xfrm>
            <a:off x="214916" y="593561"/>
            <a:ext cx="2281363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</a:t>
            </a:r>
            <a:endParaRPr sz="2400"/>
          </a:p>
          <a:p>
            <a:pPr>
              <a:spcBef>
                <a:spcPts val="960"/>
              </a:spcBef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mới</a:t>
            </a:r>
            <a:endParaRPr sz="4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5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97561" y="3359756"/>
            <a:ext cx="1826848" cy="1826848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1" name="Google Shape;221;p5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8198441" y="4293096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2" name="Google Shape;222;p5"/>
          <p:cNvPicPr preferRelativeResize="0">
            <a:picLocks noGrp="1"/>
          </p:cNvPicPr>
          <p:nvPr>
            <p:ph type="pic" idx="3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0105778" y="4293097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Rectangle 4"/>
          <p:cNvSpPr/>
          <p:nvPr/>
        </p:nvSpPr>
        <p:spPr>
          <a:xfrm>
            <a:off x="3152214" y="1869347"/>
            <a:ext cx="6625951" cy="935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1067"/>
              </a:spcAft>
            </a:pP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你爸爸做什么工作</a:t>
            </a: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？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nǐ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bàba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zuò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shénme gōngzuò </a:t>
            </a:r>
            <a:r>
              <a:rPr lang="zh-CN" altLang="vi-V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07000"/>
              </a:lnSpc>
              <a:spcAft>
                <a:spcPts val="1067"/>
              </a:spcAft>
            </a:pP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我</a:t>
            </a: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爸爸是老师</a:t>
            </a: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wǒ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bàba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shì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lǎoshī </a:t>
            </a:r>
            <a:r>
              <a:rPr lang="zh-CN" altLang="vi-V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endParaRPr lang="vi-VN" sz="2133" dirty="0"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82446" y="725939"/>
            <a:ext cx="46923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工</a:t>
            </a:r>
            <a:r>
              <a:rPr lang="zh-CN" altLang="en-US" sz="3200" b="1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作 </a:t>
            </a:r>
            <a:r>
              <a:rPr lang="vi-VN" altLang="zh-CN" sz="2400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gōngzuò </a:t>
            </a:r>
            <a:r>
              <a:rPr lang="en-US" sz="2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名</a:t>
            </a:r>
            <a:r>
              <a:rPr lang="en-US" altLang="zh-CN" sz="2400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solidFill>
                  <a:schemeClr val="accent1"/>
                </a:solidFill>
                <a:latin typeface="Times New Roman"/>
                <a:ea typeface="SimSun" panose="02010600030101010101" pitchFamily="2" charset="-122"/>
                <a:cs typeface="Times New Roman"/>
                <a:sym typeface="Times New Roman"/>
              </a:rPr>
              <a:t>动</a:t>
            </a:r>
            <a:r>
              <a:rPr lang="en-US" altLang="zh-CN" sz="2400" dirty="0">
                <a:solidFill>
                  <a:schemeClr val="accent1"/>
                </a:solidFill>
                <a:latin typeface="Times New Roman"/>
                <a:ea typeface="SimSun" panose="02010600030101010101" pitchFamily="2" charset="-122"/>
                <a:cs typeface="Times New Roman"/>
                <a:sym typeface="Times New Roman"/>
              </a:rPr>
              <a:t>   </a:t>
            </a:r>
            <a:r>
              <a:rPr lang="en-US" altLang="zh-CN" sz="2400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Công việc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399322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 txBox="1"/>
          <p:nvPr/>
        </p:nvSpPr>
        <p:spPr>
          <a:xfrm>
            <a:off x="2386951" y="1165346"/>
            <a:ext cx="5760640" cy="37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2400"/>
            </a:pPr>
            <a:endParaRPr sz="32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150611" y="1757485"/>
            <a:ext cx="3008875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</a:t>
            </a:r>
            <a:endParaRPr sz="2400"/>
          </a:p>
          <a:p>
            <a:pPr>
              <a:spcBef>
                <a:spcPts val="960"/>
              </a:spcBef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mới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6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728182" y="664010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5" name="Google Shape;235;p6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809857" y="664009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36" name="Google Shape;236;p6"/>
          <p:cNvGrpSpPr/>
          <p:nvPr/>
        </p:nvGrpSpPr>
        <p:grpSpPr>
          <a:xfrm>
            <a:off x="2225489" y="849725"/>
            <a:ext cx="4583756" cy="1437784"/>
            <a:chOff x="1907703" y="2427734"/>
            <a:chExt cx="3437817" cy="1078338"/>
          </a:xfrm>
        </p:grpSpPr>
        <p:sp>
          <p:nvSpPr>
            <p:cNvPr id="237" name="Google Shape;237;p6"/>
            <p:cNvSpPr txBox="1"/>
            <p:nvPr/>
          </p:nvSpPr>
          <p:spPr>
            <a:xfrm>
              <a:off x="1907703" y="2427734"/>
              <a:ext cx="3437817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3200" b="1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多大  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duō dà	</a:t>
              </a:r>
              <a:r>
                <a:rPr lang="en-US" sz="2133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bao nhiêu tuổi</a:t>
              </a:r>
              <a:endParaRPr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endParaRPr sz="3200" dirty="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  <p:sp>
          <p:nvSpPr>
            <p:cNvPr id="238" name="Google Shape;238;p6"/>
            <p:cNvSpPr txBox="1"/>
            <p:nvPr/>
          </p:nvSpPr>
          <p:spPr>
            <a:xfrm>
              <a:off x="1979712" y="2859782"/>
              <a:ext cx="2808312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40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你多大了？ </a:t>
              </a: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Nǐ duō dà le?</a:t>
              </a:r>
              <a:endParaRPr sz="240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  <a:p>
              <a:r>
                <a:rPr lang="en-US" sz="240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他多大了？ </a:t>
              </a:r>
              <a:r>
                <a:rPr lang="en-US" sz="2400">
                  <a:solidFill>
                    <a:schemeClr val="dk1"/>
                  </a:solidFill>
                  <a:latin typeface="Times New Roman" panose="02020603050405020304" pitchFamily="18" charset="0"/>
                  <a:ea typeface="STKaiti" panose="02010600040101010101" pitchFamily="2" charset="-122"/>
                  <a:cs typeface="Times New Roman" panose="02020603050405020304" pitchFamily="18" charset="0"/>
                  <a:sym typeface="STKaiti"/>
                </a:rPr>
                <a:t>Tā duō dà le?</a:t>
              </a:r>
              <a:endParaRPr sz="2133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oogle Shape;264;p8"/>
          <p:cNvGrpSpPr/>
          <p:nvPr/>
        </p:nvGrpSpPr>
        <p:grpSpPr>
          <a:xfrm>
            <a:off x="2225488" y="3953613"/>
            <a:ext cx="5856651" cy="1396773"/>
            <a:chOff x="3753508" y="3327771"/>
            <a:chExt cx="1610580" cy="914622"/>
          </a:xfrm>
        </p:grpSpPr>
        <p:sp>
          <p:nvSpPr>
            <p:cNvPr id="19" name="Google Shape;265;p8"/>
            <p:cNvSpPr txBox="1"/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32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岁   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suì	       </a:t>
              </a:r>
              <a:r>
                <a:rPr lang="en-US" sz="3200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量	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tuổi</a:t>
              </a:r>
              <a:endParaRPr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" name="Google Shape;266;p8"/>
            <p:cNvSpPr txBox="1"/>
            <p:nvPr/>
          </p:nvSpPr>
          <p:spPr>
            <a:xfrm>
              <a:off x="3753508" y="3678129"/>
              <a:ext cx="1584177" cy="564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我20岁。        Wǒ èrshí suì.</a:t>
              </a:r>
              <a:endParaRPr sz="2133"/>
            </a:p>
            <a:p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我今年23岁。Wǒ jīnnián èrshísān suì.</a:t>
              </a:r>
              <a:endParaRPr sz="2133"/>
            </a:p>
          </p:txBody>
        </p:sp>
      </p:grpSp>
      <p:pic>
        <p:nvPicPr>
          <p:cNvPr id="21" name="Google Shape;268;p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9330160" y="3564555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43231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7"/>
          <p:cNvGrpSpPr/>
          <p:nvPr/>
        </p:nvGrpSpPr>
        <p:grpSpPr>
          <a:xfrm>
            <a:off x="3983764" y="1191521"/>
            <a:ext cx="6624737" cy="1587925"/>
            <a:chOff x="3753508" y="3327771"/>
            <a:chExt cx="1821804" cy="1039791"/>
          </a:xfrm>
        </p:grpSpPr>
        <p:sp>
          <p:nvSpPr>
            <p:cNvPr id="248" name="Google Shape;248;p7"/>
            <p:cNvSpPr txBox="1"/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endParaRPr sz="2667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spcBef>
                  <a:spcPts val="533"/>
                </a:spcBef>
                <a:buClr>
                  <a:schemeClr val="dk1"/>
                </a:buClr>
                <a:buSzPts val="2000"/>
              </a:pPr>
              <a:r>
                <a:rPr lang="en-US" sz="2667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今年 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jīnnián        </a:t>
              </a:r>
              <a:r>
                <a:rPr lang="en-US" sz="2667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名	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năm nay</a:t>
              </a:r>
              <a:endParaRPr sz="2667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spcBef>
                  <a:spcPts val="533"/>
                </a:spcBef>
                <a:buClr>
                  <a:schemeClr val="dk1"/>
                </a:buClr>
                <a:buSzPts val="2000"/>
              </a:pPr>
              <a:endParaRPr sz="2667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7"/>
            <p:cNvSpPr txBox="1"/>
            <p:nvPr/>
          </p:nvSpPr>
          <p:spPr>
            <a:xfrm>
              <a:off x="3753508" y="3642196"/>
              <a:ext cx="1821804" cy="725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marL="380990" indent="-380990"/>
              <a:r>
                <a:rPr lang="en-US" sz="2133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你今年多大了？ Nǐ jīnnián duō dà le?</a:t>
              </a:r>
              <a:endParaRPr sz="2400" dirty="0"/>
            </a:p>
            <a:p>
              <a:pPr marL="380990" indent="-380990"/>
              <a:r>
                <a:rPr lang="en-US" sz="2133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这是我妈妈今年的照片。</a:t>
              </a:r>
              <a:endParaRPr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0990" indent="-380990"/>
              <a:r>
                <a:rPr lang="en-US" sz="2133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Zhè shì wǒ māma jīnniān de jiàopiàn .</a:t>
              </a:r>
              <a:endParaRPr sz="2400" dirty="0"/>
            </a:p>
          </p:txBody>
        </p:sp>
      </p:grpSp>
      <p:sp>
        <p:nvSpPr>
          <p:cNvPr id="250" name="Google Shape;250;p7"/>
          <p:cNvSpPr txBox="1"/>
          <p:nvPr/>
        </p:nvSpPr>
        <p:spPr>
          <a:xfrm>
            <a:off x="62789" y="1960377"/>
            <a:ext cx="3008875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</a:t>
            </a:r>
            <a:endParaRPr sz="2400"/>
          </a:p>
          <a:p>
            <a:pPr>
              <a:spcBef>
                <a:spcPts val="960"/>
              </a:spcBef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mới</a:t>
            </a:r>
            <a:endParaRPr sz="4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43675" y="1145467"/>
            <a:ext cx="2016224" cy="201622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2" name="Google Shape;252;p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0032438" y="452670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3" name="Google Shape;253;p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0032438" y="2564905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Rectangle 4"/>
          <p:cNvSpPr/>
          <p:nvPr/>
        </p:nvSpPr>
        <p:spPr>
          <a:xfrm>
            <a:off x="4079773" y="3161691"/>
            <a:ext cx="6096000" cy="10237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1067"/>
              </a:spcAft>
            </a:pPr>
            <a:r>
              <a:rPr lang="zh-CN" altLang="en-US" sz="2400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明</a:t>
            </a:r>
            <a:r>
              <a:rPr lang="zh-CN" altLang="en-US" sz="2400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年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míngnián </a:t>
            </a:r>
            <a:endParaRPr lang="vi-VN" altLang="zh-CN" sz="2133" dirty="0"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067"/>
              </a:spcAft>
            </a:pPr>
            <a:r>
              <a:rPr lang="zh-CN" altLang="en-US" sz="2400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去年</a:t>
            </a:r>
            <a:r>
              <a:rPr lang="vi-VN" altLang="zh-CN" sz="2400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qùnián </a:t>
            </a:r>
            <a:endParaRPr lang="vi-VN" sz="2133" dirty="0"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87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/>
          <p:nvPr/>
        </p:nvSpPr>
        <p:spPr>
          <a:xfrm>
            <a:off x="590848" y="429594"/>
            <a:ext cx="3008875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3F3F3F"/>
              </a:buClr>
              <a:buSzPts val="3600"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生词</a:t>
            </a:r>
            <a:endParaRPr sz="48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239;p6"/>
          <p:cNvGrpSpPr/>
          <p:nvPr/>
        </p:nvGrpSpPr>
        <p:grpSpPr>
          <a:xfrm>
            <a:off x="2406618" y="683386"/>
            <a:ext cx="6618151" cy="1849249"/>
            <a:chOff x="1669116" y="3579862"/>
            <a:chExt cx="4963613" cy="1386937"/>
          </a:xfrm>
        </p:grpSpPr>
        <p:sp>
          <p:nvSpPr>
            <p:cNvPr id="13" name="Google Shape;240;p6"/>
            <p:cNvSpPr txBox="1"/>
            <p:nvPr/>
          </p:nvSpPr>
          <p:spPr>
            <a:xfrm>
              <a:off x="1835696" y="3579862"/>
              <a:ext cx="396044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3200" b="1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谁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shéi      </a:t>
              </a:r>
              <a:r>
                <a:rPr lang="en-US" sz="3200" dirty="0">
                  <a:solidFill>
                    <a:schemeClr val="accent1"/>
                  </a:solidFill>
                  <a:latin typeface="STKaiti"/>
                  <a:ea typeface="STKaiti"/>
                  <a:cs typeface="STKaiti"/>
                  <a:sym typeface="STKaiti"/>
                </a:rPr>
                <a:t>代	    </a:t>
              </a:r>
              <a:r>
                <a:rPr lang="en-US" sz="32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Ai</a:t>
              </a:r>
              <a:endParaRPr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endParaRPr sz="3200" dirty="0">
                <a:solidFill>
                  <a:schemeClr val="accent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  <p:sp>
          <p:nvSpPr>
            <p:cNvPr id="14" name="Google Shape;241;p6"/>
            <p:cNvSpPr txBox="1"/>
            <p:nvPr/>
          </p:nvSpPr>
          <p:spPr>
            <a:xfrm>
              <a:off x="1669116" y="4043510"/>
              <a:ext cx="4963613" cy="923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400">
                  <a:solidFill>
                    <a:schemeClr val="dk1"/>
                  </a:solidFill>
                  <a:latin typeface="Times New Roman" panose="02020603050405020304" pitchFamily="18" charset="0"/>
                  <a:ea typeface="STKaiti"/>
                  <a:cs typeface="Times New Roman" panose="02020603050405020304" pitchFamily="18" charset="0"/>
                  <a:sym typeface="STKaiti"/>
                </a:rPr>
                <a:t>这是谁？ </a:t>
              </a:r>
              <a:r>
                <a:rPr lang="en-US" sz="2400">
                  <a:solidFill>
                    <a:schemeClr val="dk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Zhè shì shéi?</a:t>
              </a:r>
              <a:endParaRPr sz="2400">
                <a:solidFill>
                  <a:schemeClr val="dk1"/>
                </a:solidFill>
                <a:latin typeface="Times New Roman" panose="02020603050405020304" pitchFamily="18" charset="0"/>
                <a:ea typeface="STKaiti"/>
                <a:cs typeface="Times New Roman" panose="02020603050405020304" pitchFamily="18" charset="0"/>
                <a:sym typeface="STKaiti"/>
              </a:endParaRPr>
            </a:p>
            <a:p>
              <a:r>
                <a:rPr lang="en-US" sz="2400">
                  <a:solidFill>
                    <a:schemeClr val="dk1"/>
                  </a:solidFill>
                  <a:latin typeface="Times New Roman" panose="02020603050405020304" pitchFamily="18" charset="0"/>
                  <a:ea typeface="STKaiti"/>
                  <a:cs typeface="Times New Roman" panose="02020603050405020304" pitchFamily="18" charset="0"/>
                  <a:sym typeface="STKaiti"/>
                </a:rPr>
                <a:t>他是谁？ Tā shì shéi?</a:t>
              </a:r>
              <a:endParaRPr sz="2133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>
                  <a:solidFill>
                    <a:schemeClr val="dk1"/>
                  </a:solidFill>
                  <a:latin typeface="Times New Roman" panose="02020603050405020304" pitchFamily="18" charset="0"/>
                  <a:ea typeface="STKaiti"/>
                  <a:cs typeface="Times New Roman" panose="02020603050405020304" pitchFamily="18" charset="0"/>
                  <a:sym typeface="STKaiti"/>
                </a:rPr>
                <a:t>这是谁的照片？ Zhè shì shéi de zhàopiàn?</a:t>
              </a:r>
              <a:endParaRPr sz="2400">
                <a:solidFill>
                  <a:schemeClr val="dk1"/>
                </a:solidFill>
                <a:latin typeface="Times New Roman" panose="02020603050405020304" pitchFamily="18" charset="0"/>
                <a:ea typeface="STKaiti"/>
                <a:cs typeface="Times New Roman" panose="02020603050405020304" pitchFamily="18" charset="0"/>
                <a:sym typeface="STKaiti"/>
              </a:endParaRPr>
            </a:p>
          </p:txBody>
        </p:sp>
      </p:grpSp>
      <p:pic>
        <p:nvPicPr>
          <p:cNvPr id="15" name="Google Shape;242;p6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360364" y="429594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406617" y="2894664"/>
          <a:ext cx="8128000" cy="3136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家庭成员</a:t>
                      </a:r>
                      <a:endParaRPr lang="vi-VN" sz="21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工作</a:t>
                      </a:r>
                      <a:endParaRPr lang="vi-VN" sz="21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爸爸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老师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妈妈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医生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哥哥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律师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姐姐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大学生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弟弟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dirty="0" smtClean="0"/>
                        <a:t>中学生</a:t>
                      </a:r>
                      <a:endParaRPr lang="vi-VN" sz="27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25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9"/>
          <p:cNvGrpSpPr/>
          <p:nvPr/>
        </p:nvGrpSpPr>
        <p:grpSpPr>
          <a:xfrm>
            <a:off x="3791743" y="644688"/>
            <a:ext cx="5856651" cy="1378751"/>
            <a:chOff x="3753508" y="3327771"/>
            <a:chExt cx="1610580" cy="902820"/>
          </a:xfrm>
        </p:grpSpPr>
        <p:sp>
          <p:nvSpPr>
            <p:cNvPr id="278" name="Google Shape;278;p9"/>
            <p:cNvSpPr txBox="1"/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667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他们  </a:t>
              </a:r>
              <a:r>
                <a:rPr lang="en-US" sz="2667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tāmen	</a:t>
              </a:r>
              <a:r>
                <a:rPr lang="en-US" sz="2667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代	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họ</a:t>
              </a:r>
              <a:endParaRPr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9" name="Google Shape;279;p9"/>
            <p:cNvSpPr txBox="1"/>
            <p:nvPr/>
          </p:nvSpPr>
          <p:spPr>
            <a:xfrm>
              <a:off x="3753508" y="3720155"/>
              <a:ext cx="1584177" cy="510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>
                <a:buClr>
                  <a:schemeClr val="dk1"/>
                </a:buClr>
                <a:buSzPts val="1600"/>
              </a:pPr>
              <a:r>
                <a:rPr lang="en-US" sz="2133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他们是我的家人。 Tāmen shì wǒ de jiārén.  </a:t>
              </a:r>
              <a:endParaRPr sz="2400" dirty="0"/>
            </a:p>
            <a:p>
              <a:pPr>
                <a:buClr>
                  <a:schemeClr val="dk1"/>
                </a:buClr>
                <a:buSzPts val="1600"/>
              </a:pPr>
              <a:r>
                <a:rPr lang="en-US" sz="2133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他们是我的朋友。 Tāmen shì wǒ de péngyòu .</a:t>
              </a:r>
              <a:endParaRPr sz="2400" dirty="0"/>
            </a:p>
          </p:txBody>
        </p:sp>
      </p:grpSp>
      <p:sp>
        <p:nvSpPr>
          <p:cNvPr id="280" name="Google Shape;280;p9"/>
          <p:cNvSpPr txBox="1"/>
          <p:nvPr/>
        </p:nvSpPr>
        <p:spPr>
          <a:xfrm>
            <a:off x="175072" y="1656269"/>
            <a:ext cx="3008875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 </a:t>
            </a:r>
            <a:endParaRPr sz="2400"/>
          </a:p>
          <a:p>
            <a:pPr>
              <a:spcBef>
                <a:spcPts val="960"/>
              </a:spcBef>
              <a:buClr>
                <a:schemeClr val="dk1"/>
              </a:buClr>
              <a:buSzPts val="3600"/>
            </a:pPr>
            <a:r>
              <a:rPr lang="en-US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mới</a:t>
            </a:r>
            <a:endParaRPr sz="4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47882" y="2020280"/>
            <a:ext cx="1847849" cy="1847849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2" name="Google Shape;282;p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744406" y="356659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5" name="Google Shape;285;p9"/>
          <p:cNvSpPr txBox="1"/>
          <p:nvPr/>
        </p:nvSpPr>
        <p:spPr>
          <a:xfrm>
            <a:off x="2639616" y="4101134"/>
            <a:ext cx="5472608" cy="45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7" name="Google Shape;287;p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9744406" y="2468894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Rectangle 4"/>
          <p:cNvSpPr/>
          <p:nvPr/>
        </p:nvSpPr>
        <p:spPr>
          <a:xfrm>
            <a:off x="3887754" y="3339114"/>
            <a:ext cx="5856652" cy="2412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1067"/>
              </a:spcAft>
            </a:pP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我</a:t>
            </a: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们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wǒ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men </a:t>
            </a:r>
          </a:p>
          <a:p>
            <a:pPr>
              <a:lnSpc>
                <a:spcPct val="107000"/>
              </a:lnSpc>
              <a:spcAft>
                <a:spcPts val="1067"/>
              </a:spcAft>
            </a:pP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你们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nǐ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men </a:t>
            </a:r>
            <a:endParaRPr lang="vi-VN" sz="2133" dirty="0"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067"/>
              </a:spcAft>
            </a:pP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同学</a:t>
            </a: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们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tóng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xué men </a:t>
            </a:r>
            <a:endParaRPr lang="vi-VN" sz="2133" dirty="0"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067"/>
              </a:spcAft>
            </a:pP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朋友</a:t>
            </a: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们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péng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yǒu men </a:t>
            </a:r>
            <a:endParaRPr lang="vi-VN" sz="2133" dirty="0"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067"/>
              </a:spcAft>
            </a:pP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老师</a:t>
            </a:r>
            <a:r>
              <a:rPr lang="zh-CN" altLang="en-US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们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lǎo </a:t>
            </a:r>
            <a:r>
              <a:rPr lang="vi-VN" altLang="zh-CN" sz="2133" dirty="0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shī men </a:t>
            </a:r>
            <a:endParaRPr lang="vi-VN" sz="2133" dirty="0"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99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"/>
          <p:cNvSpPr txBox="1"/>
          <p:nvPr/>
        </p:nvSpPr>
        <p:spPr>
          <a:xfrm>
            <a:off x="847549" y="574257"/>
            <a:ext cx="3008875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3F3F3F"/>
              </a:buClr>
              <a:buSzPts val="3600"/>
            </a:pPr>
            <a:r>
              <a:rPr lang="en-US" sz="48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Từ </a:t>
            </a:r>
            <a:endParaRPr sz="2400" dirty="0"/>
          </a:p>
          <a:p>
            <a:pPr>
              <a:spcBef>
                <a:spcPts val="960"/>
              </a:spcBef>
              <a:buClr>
                <a:srgbClr val="3F3F3F"/>
              </a:buClr>
              <a:buSzPts val="3600"/>
            </a:pPr>
            <a:r>
              <a:rPr lang="en-US" sz="48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mới</a:t>
            </a:r>
            <a:endParaRPr sz="48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10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08854" y="3912674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03" name="Google Shape;303;p10"/>
          <p:cNvGrpSpPr/>
          <p:nvPr/>
        </p:nvGrpSpPr>
        <p:grpSpPr>
          <a:xfrm>
            <a:off x="3859750" y="3912673"/>
            <a:ext cx="5664629" cy="2272458"/>
            <a:chOff x="3059832" y="2571750"/>
            <a:chExt cx="4248472" cy="1704344"/>
          </a:xfrm>
        </p:grpSpPr>
        <p:sp>
          <p:nvSpPr>
            <p:cNvPr id="304" name="Google Shape;304;p10"/>
            <p:cNvSpPr txBox="1"/>
            <p:nvPr/>
          </p:nvSpPr>
          <p:spPr>
            <a:xfrm>
              <a:off x="3059832" y="2571750"/>
              <a:ext cx="4248472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3200" b="1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可爱</a:t>
              </a:r>
              <a:r>
                <a:rPr lang="en-US" sz="3200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  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kě’ài</a:t>
              </a:r>
              <a:r>
                <a:rPr lang="en-US" sz="3200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            </a:t>
              </a:r>
              <a:r>
                <a:rPr lang="en-US" sz="3200" dirty="0">
                  <a:solidFill>
                    <a:schemeClr val="accent1"/>
                  </a:solidFill>
                  <a:latin typeface="STKaiti"/>
                  <a:ea typeface="STKaiti"/>
                  <a:cs typeface="STKaiti"/>
                  <a:sym typeface="STKaiti"/>
                </a:rPr>
                <a:t>形   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dễ thương</a:t>
              </a:r>
              <a:endParaRPr sz="3200" dirty="0">
                <a:solidFill>
                  <a:schemeClr val="accent1"/>
                </a:solidFill>
                <a:latin typeface="STKaiti"/>
                <a:ea typeface="STKaiti"/>
                <a:cs typeface="STKaiti"/>
                <a:sym typeface="STKaiti"/>
              </a:endParaRPr>
            </a:p>
            <a:p>
              <a:endParaRPr sz="3200" dirty="0">
                <a:solidFill>
                  <a:schemeClr val="accent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  <p:sp>
          <p:nvSpPr>
            <p:cNvPr id="305" name="Google Shape;305;p10"/>
            <p:cNvSpPr txBox="1"/>
            <p:nvPr/>
          </p:nvSpPr>
          <p:spPr>
            <a:xfrm>
              <a:off x="3203848" y="3075806"/>
              <a:ext cx="4104456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400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他的小狗很可爱。</a:t>
              </a: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Tā de xiǎo gǒu hěn kě’ài.</a:t>
              </a:r>
              <a:endParaRPr sz="2400" dirty="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  <a:p>
              <a:r>
                <a:rPr lang="en-US" sz="2400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我的妹妹很可爱。</a:t>
              </a: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Wǒ de mèimei hěn kě’ài.</a:t>
              </a:r>
              <a:endParaRPr sz="2400" dirty="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</p:grpSp>
      <p:pic>
        <p:nvPicPr>
          <p:cNvPr id="306" name="Google Shape;306;p1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831774" y="2620938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7" name="Google Shape;307;p1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9831774" y="4613427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8" name="Google Shape;269;p8"/>
          <p:cNvGrpSpPr/>
          <p:nvPr/>
        </p:nvGrpSpPr>
        <p:grpSpPr>
          <a:xfrm>
            <a:off x="2919006" y="386884"/>
            <a:ext cx="6816757" cy="2436861"/>
            <a:chOff x="1619672" y="1923679"/>
            <a:chExt cx="5112568" cy="1827646"/>
          </a:xfrm>
        </p:grpSpPr>
        <p:sp>
          <p:nvSpPr>
            <p:cNvPr id="19" name="Google Shape;270;p8"/>
            <p:cNvSpPr txBox="1"/>
            <p:nvPr/>
          </p:nvSpPr>
          <p:spPr>
            <a:xfrm>
              <a:off x="1619672" y="1923679"/>
              <a:ext cx="5112568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3200" b="1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只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zhī       </a:t>
              </a:r>
              <a:r>
                <a:rPr lang="en-US" sz="3200" dirty="0">
                  <a:solidFill>
                    <a:schemeClr val="accent1"/>
                  </a:solidFill>
                  <a:latin typeface="STKaiti"/>
                  <a:ea typeface="STKaiti"/>
                  <a:cs typeface="STKaiti"/>
                  <a:sym typeface="STKaiti"/>
                </a:rPr>
                <a:t>量	</a:t>
              </a:r>
              <a:r>
                <a:rPr lang="en-US" sz="2667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 (lượng từ của động vật)</a:t>
              </a:r>
              <a:endParaRPr sz="2667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endParaRPr sz="3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" name="Google Shape;271;p8"/>
            <p:cNvSpPr txBox="1"/>
            <p:nvPr/>
          </p:nvSpPr>
          <p:spPr>
            <a:xfrm>
              <a:off x="1619672" y="2427734"/>
              <a:ext cx="2160240" cy="1323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667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一只  yì zhī </a:t>
              </a:r>
              <a:endParaRPr sz="2133"/>
            </a:p>
            <a:p>
              <a:r>
                <a:rPr lang="en-US" sz="2667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两只  liǎng zhī </a:t>
              </a:r>
              <a:endParaRPr sz="2133"/>
            </a:p>
            <a:p>
              <a:r>
                <a:rPr lang="en-US" sz="2667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一只狗  yì zhī gǒu</a:t>
              </a:r>
              <a:endParaRPr sz="2667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</p:grpSp>
      <p:pic>
        <p:nvPicPr>
          <p:cNvPr id="21" name="Google Shape;272;p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9831774" y="386884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30937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 txBox="1"/>
          <p:nvPr/>
        </p:nvSpPr>
        <p:spPr>
          <a:xfrm>
            <a:off x="5231904" y="644691"/>
            <a:ext cx="5760640" cy="15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endParaRPr sz="2667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311695" y="964577"/>
            <a:ext cx="3008875" cy="305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3F3F3F"/>
              </a:buClr>
              <a:buSzPts val="3600"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Từ </a:t>
            </a:r>
            <a:endParaRPr sz="2400"/>
          </a:p>
          <a:p>
            <a:pPr>
              <a:spcBef>
                <a:spcPts val="960"/>
              </a:spcBef>
              <a:buClr>
                <a:srgbClr val="3F3F3F"/>
              </a:buClr>
              <a:buSzPts val="3600"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mới</a:t>
            </a:r>
            <a:endParaRPr sz="48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1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82490" y="2562084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5" name="Google Shape;315;p1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744406" y="4740236"/>
            <a:ext cx="1846873" cy="184687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6" name="Google Shape;316;p1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9744406" y="390786"/>
            <a:ext cx="1845733" cy="184573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7" name="Google Shape;317;p11" descr="cta1-1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6">
            <a:alphaModFix/>
          </a:blip>
          <a:srcRect t="6219" b="6218"/>
          <a:stretch/>
        </p:blipFill>
        <p:spPr>
          <a:xfrm>
            <a:off x="2159563" y="644692"/>
            <a:ext cx="2110317" cy="1847849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18" name="Google Shape;318;p11"/>
          <p:cNvGrpSpPr/>
          <p:nvPr/>
        </p:nvGrpSpPr>
        <p:grpSpPr>
          <a:xfrm>
            <a:off x="4367808" y="644691"/>
            <a:ext cx="4512501" cy="2176448"/>
            <a:chOff x="3851920" y="339502"/>
            <a:chExt cx="3384376" cy="1632336"/>
          </a:xfrm>
        </p:grpSpPr>
        <p:sp>
          <p:nvSpPr>
            <p:cNvPr id="319" name="Google Shape;319;p11"/>
            <p:cNvSpPr txBox="1"/>
            <p:nvPr/>
          </p:nvSpPr>
          <p:spPr>
            <a:xfrm>
              <a:off x="3851920" y="339502"/>
              <a:ext cx="3312368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3200" b="1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狗   </a:t>
              </a:r>
              <a:r>
                <a:rPr lang="en-US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gǒu </a:t>
              </a:r>
              <a:r>
                <a:rPr lang="en-US" sz="3200" b="1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     </a:t>
              </a:r>
              <a:r>
                <a:rPr lang="en-US" sz="3200">
                  <a:solidFill>
                    <a:schemeClr val="accent1"/>
                  </a:solidFill>
                  <a:latin typeface="STKaiti"/>
                  <a:ea typeface="STKaiti"/>
                  <a:cs typeface="STKaiti"/>
                  <a:sym typeface="STKaiti"/>
                </a:rPr>
                <a:t>名  </a:t>
              </a:r>
              <a:r>
                <a:rPr lang="en-US" sz="3200">
                  <a:solidFill>
                    <a:schemeClr val="dk1"/>
                  </a:solidFill>
                  <a:latin typeface="Time s New Roman"/>
                  <a:ea typeface="Time s New Roman"/>
                  <a:cs typeface="Time s New Roman"/>
                  <a:sym typeface="Time s New Roman"/>
                </a:rPr>
                <a:t>chó</a:t>
              </a:r>
              <a:endParaRPr sz="320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  <a:p>
              <a:endParaRPr sz="3200">
                <a:solidFill>
                  <a:schemeClr val="accent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  <p:sp>
          <p:nvSpPr>
            <p:cNvPr id="320" name="Google Shape;320;p11"/>
            <p:cNvSpPr txBox="1"/>
            <p:nvPr/>
          </p:nvSpPr>
          <p:spPr>
            <a:xfrm>
              <a:off x="3851920" y="771550"/>
              <a:ext cx="3384376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40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这是我的狗。</a:t>
              </a: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Zhè shì wǒ de gǒu.</a:t>
              </a:r>
              <a:endParaRPr sz="2133"/>
            </a:p>
            <a:p>
              <a:r>
                <a:rPr lang="en-US" sz="240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可爱的小狗  </a:t>
              </a: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kě’ài de xiao gǒu</a:t>
              </a:r>
              <a:endParaRPr sz="240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  <a:p>
              <a:r>
                <a:rPr lang="en-US" sz="240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这只狗很可爱。</a:t>
              </a: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Zhè zhī gǒu hěn kě’ài.</a:t>
              </a:r>
              <a:endParaRPr sz="240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</p:grpSp>
      <p:pic>
        <p:nvPicPr>
          <p:cNvPr id="321" name="Google Shape;321;p11" descr="cta1-1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1366873" y="3963626"/>
            <a:ext cx="1847849" cy="1847849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22" name="Google Shape;322;p11"/>
          <p:cNvGrpSpPr/>
          <p:nvPr/>
        </p:nvGrpSpPr>
        <p:grpSpPr>
          <a:xfrm>
            <a:off x="3945277" y="3621023"/>
            <a:ext cx="5319076" cy="1927236"/>
            <a:chOff x="2958957" y="2715766"/>
            <a:chExt cx="3989307" cy="1445427"/>
          </a:xfrm>
        </p:grpSpPr>
        <p:sp>
          <p:nvSpPr>
            <p:cNvPr id="323" name="Google Shape;323;p11"/>
            <p:cNvSpPr txBox="1"/>
            <p:nvPr/>
          </p:nvSpPr>
          <p:spPr>
            <a:xfrm>
              <a:off x="2958957" y="2715766"/>
              <a:ext cx="3989307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3200" b="1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医生  </a:t>
              </a: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yīshēng</a:t>
              </a:r>
              <a:r>
                <a:rPr lang="en-US" sz="3200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 </a:t>
              </a:r>
              <a:r>
                <a:rPr lang="en-US" sz="3200" b="1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      </a:t>
              </a:r>
              <a:r>
                <a:rPr lang="en-US" sz="3200" dirty="0">
                  <a:solidFill>
                    <a:schemeClr val="accent1"/>
                  </a:solidFill>
                  <a:latin typeface="STKaiti"/>
                  <a:ea typeface="STKaiti"/>
                  <a:cs typeface="STKaiti"/>
                  <a:sym typeface="STKaiti"/>
                </a:rPr>
                <a:t>名  </a:t>
              </a:r>
              <a:r>
                <a:rPr lang="en-US" sz="3200" dirty="0">
                  <a:solidFill>
                    <a:schemeClr val="dk1"/>
                  </a:solidFill>
                  <a:latin typeface="Time s New Roman"/>
                  <a:ea typeface="Time s New Roman"/>
                  <a:cs typeface="Time s New Roman"/>
                  <a:sym typeface="Time s New Roman"/>
                </a:rPr>
                <a:t>bác sĩ</a:t>
              </a:r>
              <a:endParaRPr sz="3200" dirty="0">
                <a:solidFill>
                  <a:schemeClr val="accent1"/>
                </a:solidFill>
                <a:latin typeface="STKaiti"/>
                <a:ea typeface="STKaiti"/>
                <a:cs typeface="STKaiti"/>
                <a:sym typeface="STKaiti"/>
              </a:endParaRPr>
            </a:p>
            <a:p>
              <a:endParaRPr sz="3200" b="1" dirty="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  <p:sp>
          <p:nvSpPr>
            <p:cNvPr id="324" name="Google Shape;324;p11"/>
            <p:cNvSpPr txBox="1"/>
            <p:nvPr/>
          </p:nvSpPr>
          <p:spPr>
            <a:xfrm>
              <a:off x="3347864" y="3514903"/>
              <a:ext cx="3528392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400" dirty="0">
                  <a:solidFill>
                    <a:schemeClr val="dk1"/>
                  </a:solidFill>
                  <a:latin typeface="STKaiti"/>
                  <a:ea typeface="STKaiti"/>
                  <a:cs typeface="STKaiti"/>
                  <a:sym typeface="STKaiti"/>
                </a:rPr>
                <a:t>妈妈是医生。</a:t>
              </a: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Wǒ māma shì yīshēng.</a:t>
              </a:r>
              <a:endParaRPr sz="2400" dirty="0">
                <a:solidFill>
                  <a:schemeClr val="dk1"/>
                </a:solidFill>
                <a:latin typeface="STKaiti"/>
                <a:ea typeface="STKaiti"/>
                <a:cs typeface="STKaiti"/>
                <a:sym typeface="STKait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041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Widescreen</PresentationFormat>
  <Paragraphs>110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等线</vt:lpstr>
      <vt:lpstr>STKaiti</vt:lpstr>
      <vt:lpstr>Time s New Roman</vt:lpstr>
      <vt:lpstr>Arial</vt:lpstr>
      <vt:lpstr>Calibri</vt:lpstr>
      <vt:lpstr>Calibri Light</vt:lpstr>
      <vt:lpstr>SimSun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2026-10-11T01:59:39Z</dcterms:created>
  <dcterms:modified xsi:type="dcterms:W3CDTF">2026-10-11T01:59:46Z</dcterms:modified>
</cp:coreProperties>
</file>